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1A"/>
          </a:solidFill>
          <a:ln w="12700">
            <a:solidFill>
              <a:srgbClr val="0A0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E8B059"/>
          </a:solidFill>
          <a:ln w="12700">
            <a:solidFill>
              <a:srgbClr val="E8B05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112745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E8B0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Òsánvault Africa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E8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KBW 2026 — Investor Pitch Deck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329184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888A0"/>
                </a:solidFill>
              </a:rPr>
              <a:t>Korea Blockchain Week 2026 | Seoul, South Korea | September 29–October 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544068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0D1A"/>
                </a:solidFill>
              </a:rPr>
              <a:t>Olugbenga Ajayi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D0D1A"/>
                </a:solidFill>
              </a:rPr>
              <a:t>https://osanvault.africa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B059"/>
                </a:solidFill>
              </a:rPr>
              <a:t>The Problem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08792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E8E8F0"/>
                </a:solidFill>
              </a:rPr>
              <a:t>African real estate requires $50K–$500K minimum entry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E8E8F0"/>
                </a:solidFill>
              </a:rPr>
              <a:t>Traditional property investment excludes 95%+ of Africans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E8E8F0"/>
                </a:solidFill>
              </a:rPr>
              <a:t>No transparent, fractional ownership on-chain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E8E8F0"/>
                </a:solidFill>
              </a:rPr>
              <a:t>Dividend distribution is manual, opaque, and slow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E8E8F0"/>
                </a:solidFill>
              </a:rPr>
              <a:t>Regulatory pathways unclear for digital asset property investments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B059"/>
                </a:solidFill>
              </a:rPr>
              <a:t>Our Solution — Òsánvault Africa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08792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E8E8F0"/>
                </a:solidFill>
              </a:rPr>
              <a:t>Fractional ownership starting from $10 USD equivalent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E8E8F0"/>
                </a:solidFill>
              </a:rPr>
              <a:t>On-chain dividend distribution, transparent and automatic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E8E8F0"/>
                </a:solidFill>
              </a:rPr>
              <a:t>500M OSANV utility token on Solana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E8E8F0"/>
                </a:solidFill>
              </a:rPr>
              <a:t>Nigeria SEC ARIP Sandbox — compliance-first architecture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E8E8F0"/>
                </a:solidFill>
              </a:rPr>
              <a:t>Pan-African markets: Nigeria, Ghana, Kenya, South Africa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B059"/>
                </a:solidFill>
              </a:rPr>
              <a:t>By The Numbers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2407158" cy="3657600"/>
          </a:xfrm>
          <a:prstGeom prst="roundRect">
            <a:avLst/>
          </a:prstGeom>
          <a:solidFill>
            <a:srgbClr val="1A1A2E"/>
          </a:solidFill>
          <a:ln w="25400">
            <a:solidFill>
              <a:srgbClr val="E8B05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828800"/>
            <a:ext cx="240715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8B059"/>
                </a:solidFill>
              </a:rPr>
              <a:t>$10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3200400"/>
            <a:ext cx="240715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8E8F0"/>
                </a:solidFill>
              </a:rPr>
              <a:t>Minimum Investment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504438" y="1371600"/>
            <a:ext cx="2407158" cy="3657600"/>
          </a:xfrm>
          <a:prstGeom prst="roundRect">
            <a:avLst/>
          </a:prstGeom>
          <a:solidFill>
            <a:srgbClr val="1A1A2E"/>
          </a:solidFill>
          <a:ln w="25400">
            <a:solidFill>
              <a:srgbClr val="E8B05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04438" y="1828800"/>
            <a:ext cx="240715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8B059"/>
                </a:solidFill>
              </a:rPr>
              <a:t>500M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3504438" y="3200400"/>
            <a:ext cx="240715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8E8F0"/>
                </a:solidFill>
              </a:rPr>
              <a:t>OSANV Token Supply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094476" y="1371600"/>
            <a:ext cx="2407158" cy="3657600"/>
          </a:xfrm>
          <a:prstGeom prst="roundRect">
            <a:avLst/>
          </a:prstGeom>
          <a:solidFill>
            <a:srgbClr val="1A1A2E"/>
          </a:solidFill>
          <a:ln w="25400">
            <a:solidFill>
              <a:srgbClr val="E8B05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94476" y="1828800"/>
            <a:ext cx="240715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8B059"/>
                </a:solidFill>
              </a:rPr>
              <a:t>4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6094476" y="3200400"/>
            <a:ext cx="240715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8E8F0"/>
                </a:solidFill>
              </a:rPr>
              <a:t>Target Markets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684514" y="1371600"/>
            <a:ext cx="2407158" cy="3657600"/>
          </a:xfrm>
          <a:prstGeom prst="roundRect">
            <a:avLst/>
          </a:prstGeom>
          <a:solidFill>
            <a:srgbClr val="1A1A2E"/>
          </a:solidFill>
          <a:ln w="25400">
            <a:solidFill>
              <a:srgbClr val="E8B05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4514" y="1828800"/>
            <a:ext cx="240715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8B059"/>
                </a:solidFill>
              </a:rPr>
              <a:t>0.5%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8684514" y="3200400"/>
            <a:ext cx="240715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8E8F0"/>
                </a:solidFill>
              </a:rPr>
              <a:t>Annual Management Fee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B059"/>
                </a:solidFill>
              </a:rPr>
              <a:t>Revenue Model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08792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E8E8F0"/>
                </a:solidFill>
              </a:rPr>
              <a:t>Platform fees: 1.5% per transaction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E8E8F0"/>
                </a:solidFill>
              </a:rPr>
              <a:t>AUM management: 0.5% annually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E8E8F0"/>
                </a:solidFill>
              </a:rPr>
              <a:t>Secondary market: 0.3% per trade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E8E8F0"/>
                </a:solidFill>
              </a:rPr>
              <a:t>Property onboarding: fixed per listing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E8E8F0"/>
                </a:solidFill>
              </a:rPr>
              <a:t>Total addressable market: pan-African real estate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B059"/>
                </a:solidFill>
              </a:rPr>
              <a:t>Go-to-Market &amp; Growth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08792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E8E8F0"/>
                </a:solidFill>
              </a:rPr>
              <a:t>Phase 1: Nigeria SEC ARIP Sandbox entry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E8E8F0"/>
                </a:solidFill>
              </a:rPr>
              <a:t>Phase 2: Ghana, Kenya, South Africa expansion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E8E8F0"/>
                </a:solidFill>
              </a:rPr>
              <a:t>Target: $10M AUM within 18 months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E8E8F0"/>
                </a:solidFill>
              </a:rPr>
              <a:t>Grant targets: Superteam Nigeria, Gitcoin, AfDB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E8E8F0"/>
                </a:solidFill>
              </a:rPr>
              <a:t>Conference: Korea Blockchain Week 2026 (KBW 2026)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B059"/>
                </a:solidFill>
              </a:rPr>
              <a:t>Security &amp; Compliance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08792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E8E8F0"/>
                </a:solidFill>
              </a:rPr>
              <a:t>RBAC on all smart contracts and API routes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E8E8F0"/>
                </a:solidFill>
              </a:rPr>
              <a:t>Pyth Network + Switchboard oracle (dual-source)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E8E8F0"/>
                </a:solidFill>
              </a:rPr>
              <a:t>Gnosis Safe 3-of-5 multisig treasury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E8E8F0"/>
                </a:solidFill>
              </a:rPr>
              <a:t>SCUML registration pathway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E8E8F0"/>
                </a:solidFill>
              </a:rPr>
              <a:t>Nigeria SEC ARIP Sandbox compliance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B059"/>
                </a:solidFill>
              </a:rPr>
              <a:t>Investment Ask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08792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E8E8F0"/>
                </a:solidFill>
              </a:rPr>
              <a:t>Pre-seed round target: $250K–$500K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E8E8F0"/>
                </a:solidFill>
              </a:rPr>
              <a:t>Use of funds: 40% engineering, 30% compliance, 30% growth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E8E8F0"/>
                </a:solidFill>
              </a:rPr>
              <a:t>Key milestones: SEC sandbox entry, 1,000 investors, $1M AUM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E8E8F0"/>
                </a:solidFill>
              </a:rPr>
              <a:t>Contact: https://osanvault.africa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Òsánvault Africa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KBW 2026 — Investor Pitch Deck</dc:title>
  <dc:subject>Investor Pitch Deck</dc:subject>
  <dc:creator>Olugbenga Ajayi</dc:creator>
  <cp:lastModifiedBy>Olugbenga Ajayi</cp:lastModifiedBy>
  <cp:revision>1</cp:revision>
  <dcterms:created xsi:type="dcterms:W3CDTF">2026-05-09T15:02:18Z</dcterms:created>
  <dcterms:modified xsi:type="dcterms:W3CDTF">2026-05-09T15:02:18Z</dcterms:modified>
</cp:coreProperties>
</file>